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2303A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2303A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Counter-measurement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DDE3E7"/>
                </a:solidFill>
                <a:latin typeface="Calibri"/>
              </a:rPr>
              <a:t>From the current services to the new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DE3E7"/>
                </a:solidFill>
                <a:latin typeface="Calibri"/>
              </a:rPr>
              <a:t>A walkthrough — detail in counter-measurement-migration.md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1.  Where we are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8" y="1143000"/>
            <a:ext cx="2743200" cy="502920"/>
          </a:xfrm>
          <a:prstGeom prst="round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169164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3240" y="2103120"/>
            <a:ext cx="2743200" cy="54864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2303A"/>
                </a:solidFill>
                <a:latin typeface="Calibri"/>
              </a:rPr>
              <a:t>yggdrasil (BFF)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2103120"/>
            <a:ext cx="2743200" cy="54864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2303A"/>
                </a:solidFill>
                <a:latin typeface="Calibri"/>
              </a:rPr>
              <a:t>ems-backend (.NET)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69748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94560" y="3154680"/>
            <a:ext cx="7818120" cy="68580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2303A"/>
                </a:solidFill>
                <a:latin typeface="Calibri"/>
              </a:rPr>
              <a:t>~15 services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energy-model · alarms · reporting · benchmark · export · consumption-api · climate · …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16552" y="388620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7479792" y="388620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4343400"/>
            <a:ext cx="2743200" cy="54864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analysis_service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4343400"/>
            <a:ext cx="2743200" cy="54864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meter_service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79392" y="493776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7598664" y="493776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3063240" y="5349240"/>
            <a:ext cx="2743200" cy="640080"/>
          </a:xfrm>
          <a:prstGeom prst="can">
            <a:avLst/>
          </a:prstGeom>
          <a:solidFill>
            <a:srgbClr val="FFFFFF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counter_measurements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DB</a:t>
            </a:r>
          </a:p>
        </p:txBody>
      </p:sp>
      <p:sp>
        <p:nvSpPr>
          <p:cNvPr id="17" name="Can 16"/>
          <p:cNvSpPr/>
          <p:nvPr/>
        </p:nvSpPr>
        <p:spPr>
          <a:xfrm>
            <a:off x="6382512" y="5349240"/>
            <a:ext cx="2743200" cy="640080"/>
          </a:xfrm>
          <a:prstGeom prst="can">
            <a:avLst/>
          </a:prstGeom>
          <a:solidFill>
            <a:srgbClr val="FFFFFF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meter / me2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services are tightly coupled around measurements, and the meter model is hard to follow.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  Where we want to be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8" y="1188720"/>
            <a:ext cx="2743200" cy="502920"/>
          </a:xfrm>
          <a:prstGeom prst="round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173736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27448" y="2148840"/>
            <a:ext cx="2743200" cy="50292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yggdrasil (temporary)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69748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3108960"/>
            <a:ext cx="2743200" cy="68580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aggregations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measurement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108960"/>
            <a:ext cx="2743200" cy="68580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hierarchy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identity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3886200"/>
            <a:ext cx="310896" cy="292608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4343400"/>
            <a:ext cx="7818120" cy="105156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 pipeline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Kinesis  →  Flink (enrich + resample)  →  S3/Iceberg (logical_sensor_data)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→  Spark rollup  →  DynamoDB (measurements_aggregate)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the frontend reads from one or two services; the pipeline does the 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 What already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303A"/>
                </a:solidFill>
                <a:latin typeface="Calibri"/>
              </a:rPr>
              <a:t>•  Spark/Glue rollup: logical_meter_data → DynamoDB view (measurements_aggregate).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   •  hour + day periods, pre-aggregated at every hierarchy level (company → building → meter).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   •  group-by is already materialised.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303A"/>
                </a:solidFill>
                <a:latin typeface="Calibri"/>
              </a:rPr>
              <a:t>•  Rust CQRS read API (aggregations) serves it; raw-data reads via Athena for datatilegnelse.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303A"/>
                </a:solidFill>
                <a:latin typeface="Calibri"/>
              </a:rPr>
              <a:t>•  hierarchy service + meter-identity own identity/hierarchy.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   •  a cross-account CDC bridge already keeps them fed.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the rollup, the read API and the identity plane already exist; missing = the compute layer and getting all data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 Measurements in —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17320" cy="137160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Sources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3736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965960"/>
            <a:ext cx="1417320" cy="137160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Kinesis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(EventBridge Pipes)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900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03320" y="1965960"/>
            <a:ext cx="1417320" cy="137160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Flink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enrich + resample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2064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965960"/>
            <a:ext cx="1417320" cy="137160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logical_sensor_data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(S3 / Iceberg)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1228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1965960"/>
            <a:ext cx="1417320" cy="137160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Spark rollup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(hour / day)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0392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1965960"/>
            <a:ext cx="1417320" cy="137160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measurements_aggregate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(DynamoDB)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95560" y="2496312"/>
            <a:ext cx="27432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9880" y="1965960"/>
            <a:ext cx="1417320" cy="1371600"/>
          </a:xfrm>
          <a:prstGeom prst="round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aggregations API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→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31089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Source routing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Electrocom → dedicated parser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Catch-all MQTT → AWS IoT Core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Brunata/Datahub/Aalborg/Danfoss/Techem → multi-tenant API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CSV → csv_parser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Manual updates → through the pipe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Kinect → dead (nothing to migrate)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each source is routed into the pipeline; the legacy ingestion services can then be removed.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 Measurements out — the compute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663440" cy="105156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· Spark rollup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energy / flow / temperatures — each from its own sensor; cooling &amp; VWAT are derived (flow × Δtemp) via the formula step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03520" y="1787652"/>
            <a:ext cx="36576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4663440" cy="105156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 · Flink stream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active-hours, standby — need sub-hour resolution → daily columns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3067812"/>
            <a:ext cx="36576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4663440" cy="105156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 · Denormalised columns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cost = energy×price, CO2 = energy×factor, degree-days from weather — broadcast-joined in Spark on (location, date) / (resource, period)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4347972"/>
            <a:ext cx="36576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371600"/>
            <a:ext cx="5806440" cy="370332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2303A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46304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2303A"/>
                </a:solidFill>
                <a:latin typeface="Calibri"/>
              </a:rPr>
              <a:t>measurements_aggregate  —  one DynamoDB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792224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keyed by:  node · resource · granularity · period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2130552"/>
            <a:ext cx="5394960" cy="73152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Columns from the readings  ·  Spark rollup (A)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sum · count · min · max · last · temp · flow · cooling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926080"/>
            <a:ext cx="5394960" cy="566928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Columns from fine resolution  ·  Flink (B)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active_hours · standby_energy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3557016"/>
            <a:ext cx="5394960" cy="73152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Columns from reference data  ·  denormalised (C)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DDE3E7"/>
                </a:solidFill>
                <a:latin typeface="Calibri"/>
              </a:rPr>
              <a:t>cost · co2_scope_* · hdd · cdd · energy_cc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37083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7D2A"/>
                </a:solidFill>
                <a:latin typeface="Calibri"/>
              </a:rPr>
              <a:t>A read = one DynamoDB lookup — no joins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each lane writes columns onto one aggregate item; a read is a single DynamoDB lookup, no joins.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 The meter model, simplified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103120" cy="822960"/>
          </a:xfrm>
          <a:prstGeom prst="roundRect">
            <a:avLst/>
          </a:prstGeom>
          <a:solidFill>
            <a:srgbClr val="DDE3E7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main meter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554480"/>
            <a:ext cx="2103120" cy="822960"/>
          </a:xfrm>
          <a:prstGeom prst="roundRect">
            <a:avLst/>
          </a:prstGeom>
          <a:solidFill>
            <a:srgbClr val="DDE3E7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sub 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103120" cy="822960"/>
          </a:xfrm>
          <a:prstGeom prst="roundRect">
            <a:avLst/>
          </a:prstGeom>
          <a:solidFill>
            <a:srgbClr val="DDE3E7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calculation 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514600"/>
            <a:ext cx="2103120" cy="822960"/>
          </a:xfrm>
          <a:prstGeom prst="roundRect">
            <a:avLst/>
          </a:prstGeom>
          <a:solidFill>
            <a:srgbClr val="DDE3E7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"part of summation"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8A8A"/>
                </a:solidFill>
                <a:latin typeface="Calibri"/>
              </a:rPr>
              <a:t>four concepts to avoid double-counting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2148840"/>
            <a:ext cx="1188720" cy="640080"/>
          </a:xfrm>
          <a:prstGeom prst="rightArrow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1737360"/>
            <a:ext cx="4480560" cy="128016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Sensor + formula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one concept · Identity / Zero / Expr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2918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303A"/>
                </a:solidFill>
                <a:latin typeface="Calibri"/>
              </a:rPr>
              <a:t>•  sub → main = a single "part-of-main" reference; netting is auto-generated.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303A"/>
                </a:solidFill>
                <a:latin typeface="Calibri"/>
              </a:rPr>
              <a:t>•  no second hierarchy — main/sub may cross buildings.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303A"/>
                </a:solidFill>
                <a:latin typeface="Calibri"/>
              </a:rPr>
              <a:t>•  calculation meter → a formula (already stored as one).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303A"/>
                </a:solidFill>
                <a:latin typeface="Calibri"/>
              </a:rPr>
              <a:t>•  users pick from the company tree; formulas are generated, not hand-written.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4892040" cy="146304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Sensor identity — the new model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Each measure is its own sensor, keyed by daq_id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(protocol:…:meterserial:sensorid) — no counter-number slots.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303A"/>
                </a:solidFill>
                <a:latin typeface="Calibri"/>
              </a:rPr>
              <a:t>"Primary" / temperature come from resource + meter_type,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not TaellerNr (a legacy convention).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the four meter types become one — a sensor with a formula — with double-counting handled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7.  Consolidating the consumers — a two-step 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966960" cy="868680"/>
          </a:xfrm>
          <a:prstGeom prst="roundRect">
            <a:avLst/>
          </a:prstGeom>
          <a:solidFill>
            <a:srgbClr val="B0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Step 1 — Repoint  (migration step)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services stop reaching into analysis / meter and read the clean common API — breaks the worst coupling, but they still exist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2121408"/>
            <a:ext cx="310896" cy="274320"/>
          </a:xfrm>
          <a:prstGeom prst="down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9966960" cy="45720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Step 2 — Fold in or re-home  (the destination)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08960"/>
            <a:ext cx="3200400" cy="160020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Fold into aggregations / hierarchy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measurement / identity logic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consumption-api, computed-benchmark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108960"/>
            <a:ext cx="3200400" cy="160020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2E6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Re-home as a bounded-context service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2303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genuine separate domains: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303A"/>
                </a:solidFill>
                <a:latin typeface="Calibri"/>
              </a:rPr>
              <a:t>alarms · reporting / CSRD · ML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own data · loose coupling (events / APIs)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08960"/>
            <a:ext cx="3200400" cy="160020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Retire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2303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legacy monolith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manual-readings · back-office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A8A8A"/>
                </a:solidFill>
                <a:latin typeface="Calibri"/>
              </a:rPr>
              <a:t>energy-cost (after we own prices)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937760"/>
            <a:ext cx="99669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303A"/>
                </a:solidFill>
                <a:latin typeface="Calibri"/>
              </a:rPr>
              <a:t>Stopping at Step 1 just relocates the hard coupling — the goal is a small set of context-owning services, not a fan-out of middle-tier 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repoint first to break the coupling, then fold in or re-home — stopping at repoint would relocate the coupling.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8.  How we validate before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237744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Meter-hierarchy test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derive formulas from the old DB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→ recompute totals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→ compare vs current summation, per company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runs offline — no pipeline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303520" cy="2377440"/>
          </a:xfrm>
          <a:prstGeom prst="round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Reference-data test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old values output (cost / CO2 / degree-days)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→ compare vs the new denormalised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27080" cy="822960"/>
          </a:xfrm>
          <a:prstGeom prst="roundRect">
            <a:avLst/>
          </a:prstGeom>
          <a:solidFill>
            <a:srgbClr val="EEF2F4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2303A"/>
                </a:solidFill>
                <a:latin typeface="Calibri"/>
              </a:rPr>
              <a:t>Both compare the new model to the current analysis_service output on real data — go/no-go gates before any cutover.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we replay the old results and compare; no cutover until the numbers match.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9.  The path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468880" cy="1188720"/>
          </a:xfrm>
          <a:prstGeom prst="round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0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Verify &amp; size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(now, read-only)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2496312"/>
            <a:ext cx="32004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234440"/>
            <a:ext cx="4206240" cy="822960"/>
          </a:xfrm>
          <a:prstGeom prst="roundRect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Phase 1 — Extend the data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weather/cost/CO2 +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148840"/>
            <a:ext cx="4206240" cy="82296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Phase 2 — Formula &amp; hierarchy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wire eval; migrate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9923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8A8A8A"/>
                </a:solidFill>
                <a:latin typeface="Calibri"/>
              </a:rPr>
              <a:t>(the two run in parallel)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35240" y="2496312"/>
            <a:ext cx="320040" cy="310896"/>
          </a:xfrm>
          <a:prstGeom prst="rightArrow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566160" cy="1188720"/>
          </a:xfrm>
          <a:prstGeom prst="round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DE3E7"/>
                </a:solidFill>
                <a:latin typeface="Calibri"/>
              </a:rPr>
              <a:t>Consolidate &amp; cut over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DDE3E7"/>
                </a:solidFill>
                <a:latin typeface="Calibri"/>
              </a:rPr>
              <a:t>shared switch, once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94760"/>
            <a:ext cx="11155680" cy="731520"/>
          </a:xfrm>
          <a:prstGeom prst="roundRect">
            <a:avLst/>
          </a:prstGeom>
          <a:solidFill>
            <a:srgbClr val="EEF2F4"/>
          </a:solidFill>
          <a:ln w="19050">
            <a:solidFill>
              <a:srgbClr val="B07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2303A"/>
                </a:solidFill>
                <a:latin typeface="Calibri"/>
              </a:rPr>
              <a:t>Track I — Ingestion (parallel foundation):  parsers / EventBridge Pipes / IoT Core so all sources are in the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155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2303A"/>
                </a:solidFill>
                <a:latin typeface="Calibri"/>
              </a:rPr>
              <a:t>First step:  the meter-hierarchy test — validates the main assumption, runs offline, comes before the largest piece of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validate company by company, build in parallel, then cut over as a shared switch once the numbers 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10.  Open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•  User-facing meter model — auto-netting + one unified concept (recommended) or exposing formulas.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•  Data-volume sizing — confirm the denormalised DynamoDB item is affordable before schema-freeze.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•  Own prices — when to retire energy-cost.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•  Hierarchy migration — mechanical vs dual-run (validated company by company), decided by the test.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303A"/>
                </a:solidFill>
                <a:latin typeface="Calibri"/>
              </a:rPr>
              <a:t>•  Cutover model — a shared switch staged by capability (default), or per-tenant (needs dual ingestion + frontend routing).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7A57"/>
                </a:solidFill>
                <a:latin typeface="Calibri"/>
              </a:rPr>
              <a:t>In short:  </a:t>
            </a:r>
            <a:r>
              <a:rPr sz="1300" b="0">
                <a:solidFill>
                  <a:srgbClr val="22303A"/>
                </a:solidFill>
                <a:latin typeface="Calibri"/>
              </a:rPr>
              <a:t>a few decisions remain; the analysis has settled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