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6C8CFF"/>
                </a:solidFill>
                <a:latin typeface="Inter"/>
              </a:rPr>
              <a:t>ENITY  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0604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E2E4E9"/>
                </a:solidFill>
                <a:latin typeface="Inter"/>
              </a:rPr>
              <a:t>Product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8B8FA3"/>
                </a:solidFill>
                <a:latin typeface="Inter"/>
              </a:rPr>
              <a:t>Frontend  →  API  →  Intelligence  → 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80560" y="4343400"/>
            <a:ext cx="3227832" cy="0"/>
          </a:xfrm>
          <a:prstGeom prst="line">
            <a:avLst/>
          </a:prstGeom>
          <a:ln w="12700">
            <a:solidFill>
              <a:srgbClr val="2A2D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E2E4E9"/>
                </a:solidFill>
                <a:latin typeface="Inter"/>
              </a:rPr>
              <a:t>A serverless, partner-extensible energy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46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B8FA3"/>
                </a:solidFill>
                <a:latin typeface="Inter"/>
              </a:rPr>
              <a:t>Slim static edge  ·  Cognito-scoped API  ·  CQRS on Graviton  ·  Tiered storage  ·  Models on your own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5E70"/>
                </a:solidFill>
                <a:latin typeface="Inter"/>
              </a:rPr>
              <a:t>Technical Architecture Briefing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886968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Four moving parts, one coherent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Each layer is thin, independently scalable, and pay-per-use — nothing runs idle.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670048" cy="29718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400" b="1">
                <a:solidFill>
                  <a:srgbClr val="2DD4BF"/>
                </a:solidFill>
                <a:latin typeface="Inter"/>
              </a:rPr>
              <a:t>01  Slim static edge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Astro/HTMX site on S3, served from CloudFront. No SSR servers, no frontend fleet — globally cached bytes. Optionally a host shell for partner micro-frontends.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64008" cy="29718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9856" y="2148840"/>
            <a:ext cx="2670048" cy="29718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400" b="1">
                <a:solidFill>
                  <a:srgbClr val="6C8CFF"/>
                </a:solidFill>
                <a:latin typeface="Inter"/>
              </a:rPr>
              <a:t>02  Thin scoped API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Cognito-issued tokens validated at API Gateway. Every request is tenant-scoped at the edge before a line of business logic 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148840"/>
            <a:ext cx="64008" cy="2971800"/>
          </a:xfrm>
          <a:prstGeom prst="roundRect">
            <a:avLst>
              <a:gd name="adj" fmla="val 50000"/>
            </a:avLst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91072" y="2148840"/>
            <a:ext cx="2670048" cy="29718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400" b="1">
                <a:solidFill>
                  <a:srgbClr val="A78BFA"/>
                </a:solidFill>
                <a:latin typeface="Inter"/>
              </a:rPr>
              <a:t>03  CQRS serverless compute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One Rust/Graviton Lambda per bounded context. Command and query are different API Gateway paths into the same function — fewer Lambdas, lower Datadog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148840"/>
            <a:ext cx="64008" cy="29718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62288" y="2148840"/>
            <a:ext cx="2670048" cy="29718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400" b="1">
                <a:solidFill>
                  <a:srgbClr val="4ADE80"/>
                </a:solidFill>
                <a:latin typeface="Inter"/>
              </a:rPr>
              <a:t>04  Tiered storage + intelligence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Hot, small, recent data in DynamoDB; massive history in S3 Tables. Models train on that history and serve predictions back through the same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62288" y="2148840"/>
            <a:ext cx="64008" cy="29718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E2E4E9"/>
                </a:solidFill>
                <a:latin typeface="Inter"/>
              </a:rPr>
              <a:t>Pay-per-use · scales to zero · multi-account isolated · extensible by partners without forking the 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94960"/>
            <a:ext cx="11091672" cy="56692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The platform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Request path left→right; ingestion feeds the data tiers; intelligence trains on the cold tier and serves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DD4BF"/>
                </a:solidFill>
                <a:latin typeface="Inter"/>
              </a:rPr>
              <a:t>Browser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+ partner micro-frontends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3317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DD4BF"/>
                </a:solidFill>
                <a:latin typeface="Inter"/>
              </a:rPr>
              <a:t>CloudFront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edge cache + S3 static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331720"/>
            <a:ext cx="105156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ACC15"/>
                </a:solidFill>
                <a:latin typeface="Inter"/>
              </a:rPr>
              <a:t>Cognito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authorizer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33172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API Gateway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scoped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221991"/>
            <a:ext cx="1783080" cy="1133856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A78BFA"/>
                </a:solidFill>
                <a:latin typeface="Inter"/>
              </a:rPr>
              <a:t>Context Lambdas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one per context · CQRS inside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993392"/>
            <a:ext cx="160020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B923C"/>
                </a:solidFill>
                <a:latin typeface="Inter"/>
              </a:rPr>
              <a:t>DynamoDB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hot · small · recent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907792"/>
            <a:ext cx="160020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DE80"/>
                </a:solidFill>
                <a:latin typeface="Inter"/>
              </a:rPr>
              <a:t>S3 Tables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cold · massive · Iceberg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27080" y="2450592"/>
            <a:ext cx="118872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2D3EE"/>
                </a:solidFill>
                <a:latin typeface="Inter"/>
              </a:rPr>
              <a:t>Inference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models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03120" y="2788920"/>
            <a:ext cx="228600" cy="0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77639" y="2788920"/>
            <a:ext cx="182881" cy="0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12080" y="2788920"/>
            <a:ext cx="182880" cy="0"/>
          </a:xfrm>
          <a:prstGeom prst="line">
            <a:avLst/>
          </a:prstGeom>
          <a:ln w="15875">
            <a:solidFill>
              <a:srgbClr val="FACC1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12280" y="2788920"/>
            <a:ext cx="18288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78240" y="2368296"/>
            <a:ext cx="320040" cy="420624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2788920"/>
            <a:ext cx="320040" cy="493776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698480" y="2788920"/>
            <a:ext cx="228600" cy="36576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0698480" y="2286000"/>
            <a:ext cx="777240" cy="164592"/>
          </a:xfrm>
          <a:prstGeom prst="line">
            <a:avLst/>
          </a:prstGeom>
          <a:ln w="15875">
            <a:solidFill>
              <a:srgbClr val="22D3E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744200" y="199339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22D3EE"/>
                </a:solidFill>
                <a:latin typeface="Inter"/>
              </a:rPr>
              <a:t>predictions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2907792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4ADE80"/>
                </a:solidFill>
                <a:latin typeface="Inter"/>
              </a:rPr>
              <a:t>train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1480" y="4224528"/>
            <a:ext cx="11338560" cy="0"/>
          </a:xfrm>
          <a:prstGeom prst="line">
            <a:avLst/>
          </a:prstGeom>
          <a:ln w="12700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43159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B8FA3"/>
                </a:solidFill>
                <a:latin typeface="Inter"/>
              </a:rPr>
              <a:t>DATA INGESTION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09160"/>
            <a:ext cx="182880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A78BFA"/>
                </a:solidFill>
                <a:latin typeface="Inter"/>
              </a:rPr>
              <a:t>Sources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LoRaWAN/MQTT/HTTPS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23160" y="4709160"/>
            <a:ext cx="128016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6C8CFF"/>
                </a:solidFill>
                <a:latin typeface="Inter"/>
              </a:rPr>
              <a:t>Kinesis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stream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709160"/>
            <a:ext cx="150876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6C8CFF"/>
                </a:solidFill>
                <a:latin typeface="Inter"/>
              </a:rPr>
              <a:t>Flink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streaming enrich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4709160"/>
            <a:ext cx="155448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B923C"/>
                </a:solidFill>
                <a:latin typeface="Inter"/>
              </a:rPr>
              <a:t>Glue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rollup · late-data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240280" y="5084064"/>
            <a:ext cx="18288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703320" y="5084064"/>
            <a:ext cx="18288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394960" y="5084064"/>
            <a:ext cx="182880" cy="0"/>
          </a:xfrm>
          <a:prstGeom prst="line">
            <a:avLst/>
          </a:prstGeom>
          <a:ln w="15875">
            <a:solidFill>
              <a:srgbClr val="FB9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394960" y="3566160"/>
            <a:ext cx="3749040" cy="1143000"/>
          </a:xfrm>
          <a:prstGeom prst="line">
            <a:avLst/>
          </a:prstGeom>
          <a:ln w="12700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132320" y="2743200"/>
            <a:ext cx="2377440" cy="1965960"/>
          </a:xfrm>
          <a:prstGeom prst="line">
            <a:avLst/>
          </a:prstGeom>
          <a:ln w="12700">
            <a:solidFill>
              <a:srgbClr val="FB923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315200" y="4434840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4ADE80"/>
                </a:solidFill>
                <a:latin typeface="Inter"/>
              </a:rPr>
              <a:t>Iceberg append-only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361188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FB923C"/>
                </a:solidFill>
                <a:latin typeface="Inter"/>
              </a:rPr>
              <a:t>hourly materialized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98932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8FA3"/>
                </a:solidFill>
                <a:latin typeface="Inter"/>
              </a:rPr>
              <a:t>Account 339712745226 — frontend, API, hierarchy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8FA3"/>
                </a:solidFill>
                <a:latin typeface="Inter"/>
              </a:rPr>
              <a:t>Account 891377204778 — pipeline, S3 Tables, aggregations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B8FA3"/>
                </a:solidFill>
                <a:latin typeface="Inter"/>
              </a:rPr>
              <a:t>Both eu-central-1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078992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2DD4BF"/>
                </a:solidFill>
                <a:latin typeface="Inter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A slim, mostly-static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Astro builds to static assets on S3, served from CloudFront. Frontend operations approach zero.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6035040" cy="45262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2DD4BF"/>
                </a:solidFill>
                <a:latin typeface="Inter"/>
              </a:rPr>
              <a:t>›  </a:t>
            </a:r>
            <a:r>
              <a:rPr sz="1350" b="1">
                <a:solidFill>
                  <a:srgbClr val="2DD4BF"/>
                </a:solidFill>
                <a:latin typeface="Inter"/>
              </a:rPr>
              <a:t>Static build → S3  </a:t>
            </a:r>
            <a:r>
              <a:rPr sz="1350">
                <a:solidFill>
                  <a:srgbClr val="8B8FA3"/>
                </a:solidFill>
                <a:latin typeface="Inter"/>
              </a:rPr>
              <a:t>Astro compiles to HTML/CSS/JS; no server-side runtime to operate or scale.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2DD4BF"/>
                </a:solidFill>
                <a:latin typeface="Inter"/>
              </a:rPr>
              <a:t>›  </a:t>
            </a:r>
            <a:r>
              <a:rPr sz="1350" b="1">
                <a:solidFill>
                  <a:srgbClr val="2DD4BF"/>
                </a:solidFill>
                <a:latin typeface="Inter"/>
              </a:rPr>
              <a:t>CloudFront edge  </a:t>
            </a:r>
            <a:r>
              <a:rPr sz="1350">
                <a:solidFill>
                  <a:srgbClr val="8B8FA3"/>
                </a:solidFill>
                <a:latin typeface="Inter"/>
              </a:rPr>
              <a:t>Global cache; the same artifact is served everywhere with low latency.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2DD4BF"/>
                </a:solidFill>
                <a:latin typeface="Inter"/>
              </a:rPr>
              <a:t>›  </a:t>
            </a:r>
            <a:r>
              <a:rPr sz="1350" b="1">
                <a:solidFill>
                  <a:srgbClr val="2DD4BF"/>
                </a:solidFill>
                <a:latin typeface="Inter"/>
              </a:rPr>
              <a:t>HTML-over-the-wire  </a:t>
            </a:r>
            <a:r>
              <a:rPr sz="1350">
                <a:solidFill>
                  <a:srgbClr val="8B8FA3"/>
                </a:solidFill>
                <a:latin typeface="Inter"/>
              </a:rPr>
              <a:t>HTMX hypermedia — interactions fetch server-rendered HTML fragments, not client-side JSON rendering.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2DD4BF"/>
                </a:solidFill>
                <a:latin typeface="Inter"/>
              </a:rPr>
              <a:t>›  </a:t>
            </a:r>
            <a:r>
              <a:rPr sz="1350" b="1">
                <a:solidFill>
                  <a:srgbClr val="2DD4BF"/>
                </a:solidFill>
                <a:latin typeface="Inter"/>
              </a:rPr>
              <a:t>Content-only deploys  </a:t>
            </a:r>
            <a:r>
              <a:rPr sz="1350">
                <a:solidFill>
                  <a:srgbClr val="8B8FA3"/>
                </a:solidFill>
                <a:latin typeface="Inter"/>
              </a:rPr>
              <a:t>A deploy swaps the asset bundle; the bucket and distribution are untouched (RETAIN). Trivial, instant rollback.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2DD4BF"/>
                </a:solidFill>
                <a:latin typeface="Inter"/>
              </a:rPr>
              <a:t>›  </a:t>
            </a:r>
            <a:r>
              <a:rPr sz="1350" b="1">
                <a:solidFill>
                  <a:srgbClr val="2DD4BF"/>
                </a:solidFill>
                <a:latin typeface="Inter"/>
              </a:rPr>
              <a:t>API via the edge  </a:t>
            </a:r>
            <a:r>
              <a:rPr sz="1350">
                <a:solidFill>
                  <a:srgbClr val="8B8FA3"/>
                </a:solidFill>
                <a:latin typeface="Inter"/>
              </a:rPr>
              <a:t>CloudFront proxies each context's namespace (/hierarchy/*, /aggregations/*) to the API — calls stay relative, no CORS 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468880"/>
            <a:ext cx="1554480" cy="7772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DD4BF"/>
                </a:solidFill>
                <a:latin typeface="Inter"/>
              </a:rPr>
              <a:t>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46888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DD4BF"/>
                </a:solidFill>
                <a:latin typeface="Inter"/>
              </a:rPr>
              <a:t>CloudFront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edge 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361188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DE80"/>
                </a:solidFill>
                <a:latin typeface="Inter"/>
              </a:rPr>
              <a:t>S3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static assets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475488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API Gateway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proxied paths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0" y="2852928"/>
            <a:ext cx="320040" cy="0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3246120"/>
            <a:ext cx="0" cy="36576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84080" y="4389120"/>
            <a:ext cx="0" cy="365760"/>
          </a:xfrm>
          <a:prstGeom prst="line">
            <a:avLst/>
          </a:prstGeom>
          <a:ln w="15875">
            <a:solidFill>
              <a:srgbClr val="6C8CF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86600" y="56692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B8FA3"/>
                </a:solidFill>
                <a:latin typeface="Inter"/>
              </a:rPr>
              <a:t>Static path cached at the edge; only dynamic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B8FA3"/>
                </a:solidFill>
                <a:latin typeface="Inter"/>
              </a:rPr>
              <a:t>calls reach the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2E4E9"/>
                </a:solidFill>
                <a:latin typeface="Inter"/>
              </a:rPr>
              <a:t>Result: frontend ops ≈ 0. Cost scales with bytes served, not servers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615184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Inter"/>
              </a:rPr>
              <a:t>EXTENSIBILITY —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Partner micro-frontends, by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The core ships as one static app. A host shell lets partners mount features — opt-in, never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486400" cy="3566160"/>
          </a:xfrm>
          <a:prstGeom prst="roundRect">
            <a:avLst>
              <a:gd name="adj" fmla="val 4000"/>
            </a:avLst>
          </a:prstGeom>
          <a:solidFill>
            <a:srgbClr val="151823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Inter"/>
              </a:rPr>
              <a:t>Host shell  (Enity 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B8FA3"/>
                </a:solidFill>
                <a:latin typeface="Inter"/>
              </a:rPr>
              <a:t>routing · auth context · design system · slots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DE80"/>
                </a:solidFill>
                <a:latin typeface="Inter"/>
              </a:rPr>
              <a:t>Core views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mounted at a slot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338328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DD4BF"/>
                </a:solidFill>
                <a:latin typeface="Inter"/>
              </a:rPr>
              <a:t>Partner A module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mounted at a slot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3484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B923C"/>
                </a:solidFill>
                <a:latin typeface="Inter"/>
              </a:rPr>
              <a:t>Partner B module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mounted at a slot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4434840"/>
            <a:ext cx="2377440" cy="84124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22D3EE"/>
                </a:solidFill>
                <a:latin typeface="Inter"/>
              </a:rPr>
              <a:t>3rd-party widget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mounted at a 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512064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Slim by default  </a:t>
            </a:r>
            <a:r>
              <a:rPr sz="1300">
                <a:solidFill>
                  <a:srgbClr val="8B8FA3"/>
                </a:solidFill>
                <a:latin typeface="Inter"/>
              </a:rPr>
              <a:t>Core is a single static bundle. Federation is an option you switch on, not a tax everyone pays.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Composition models  </a:t>
            </a:r>
            <a:r>
              <a:rPr sz="1300">
                <a:solidFill>
                  <a:srgbClr val="8B8FA3"/>
                </a:solidFill>
                <a:latin typeface="Inter"/>
              </a:rPr>
              <a:t>Web components, module federation, or iframed islands — partners ship independently.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Scoped to their surface  </a:t>
            </a:r>
            <a:r>
              <a:rPr sz="1300">
                <a:solidFill>
                  <a:srgbClr val="8B8FA3"/>
                </a:solidFill>
                <a:latin typeface="Inter"/>
              </a:rPr>
              <a:t>A partner module can only call the API its Cognito scopes allow — isolation holds in the browser.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Ecosystem, not a fork  </a:t>
            </a:r>
            <a:r>
              <a:rPr sz="1300">
                <a:solidFill>
                  <a:srgbClr val="8B8FA3"/>
                </a:solidFill>
                <a:latin typeface="Inter"/>
              </a:rPr>
              <a:t>Partners add functionality without branching the core or gating on our release train.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8064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2E4E9"/>
                </a:solidFill>
                <a:latin typeface="Inter"/>
              </a:rPr>
              <a:t>Decision: keep the option open in the architecture; ship core without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078992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FACC15"/>
                </a:solidFill>
                <a:latin typeface="Inter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Cognito-scoped access at the 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Authorization is resolved at API Gateway — before business logic. Least privilege, per tenant.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ACC15"/>
                </a:solidFill>
                <a:latin typeface="Inter"/>
              </a:rPr>
              <a:t>Cognito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user pool ·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468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API Gateway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JWT authorizer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468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DE80"/>
                </a:solidFill>
                <a:latin typeface="Inter"/>
              </a:rPr>
              <a:t>Scoped routes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tenant / partner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4688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A78BFA"/>
                </a:solidFill>
                <a:latin typeface="Inter"/>
              </a:rPr>
              <a:t>CQRS Lambda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runs trusted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2926080"/>
            <a:ext cx="411480" cy="0"/>
          </a:xfrm>
          <a:prstGeom prst="line">
            <a:avLst/>
          </a:prstGeom>
          <a:ln w="15875">
            <a:solidFill>
              <a:srgbClr val="FACC1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63440" y="2926080"/>
            <a:ext cx="41148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2926080"/>
            <a:ext cx="41148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352044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B8FA3"/>
                </a:solidFill>
                <a:latin typeface="Inter"/>
              </a:rPr>
              <a:t>Invalid or unscoped token → rejected at the gateway; no Lambda invocation, no cost.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110642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ACC15"/>
                </a:solidFill>
                <a:latin typeface="Inter"/>
              </a:rPr>
              <a:t>›  </a:t>
            </a:r>
            <a:r>
              <a:rPr sz="1300" b="1">
                <a:solidFill>
                  <a:srgbClr val="FACC15"/>
                </a:solidFill>
                <a:latin typeface="Inter"/>
              </a:rPr>
              <a:t>Edge enforcement  </a:t>
            </a:r>
            <a:r>
              <a:rPr sz="1300">
                <a:solidFill>
                  <a:srgbClr val="8B8FA3"/>
                </a:solidFill>
                <a:latin typeface="Inter"/>
              </a:rPr>
              <a:t>Tokens are validated by an API Gateway authorizer; unauthorized requests never reach compute.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ACC15"/>
                </a:solidFill>
                <a:latin typeface="Inter"/>
              </a:rPr>
              <a:t>›  </a:t>
            </a:r>
            <a:r>
              <a:rPr sz="1300" b="1">
                <a:solidFill>
                  <a:srgbClr val="FACC15"/>
                </a:solidFill>
                <a:latin typeface="Inter"/>
              </a:rPr>
              <a:t>Per-tenant scopes  </a:t>
            </a:r>
            <a:r>
              <a:rPr sz="1300">
                <a:solidFill>
                  <a:srgbClr val="8B8FA3"/>
                </a:solidFill>
                <a:latin typeface="Inter"/>
              </a:rPr>
              <a:t>Claims bound a caller to its company/partner subtree — least privilege by construction.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ACC15"/>
                </a:solidFill>
                <a:latin typeface="Inter"/>
              </a:rPr>
              <a:t>›  </a:t>
            </a:r>
            <a:r>
              <a:rPr sz="1300" b="1">
                <a:solidFill>
                  <a:srgbClr val="FACC15"/>
                </a:solidFill>
                <a:latin typeface="Inter"/>
              </a:rPr>
              <a:t>In-request provisioning  </a:t>
            </a:r>
            <a:r>
              <a:rPr sz="1300">
                <a:solidFill>
                  <a:srgbClr val="8B8FA3"/>
                </a:solidFill>
                <a:latin typeface="Inter"/>
              </a:rPr>
              <a:t>The hierarchy Lambda creates/deletes Cognito users synchronously, with rollback — no out-of-band sync lag.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ACC15"/>
                </a:solidFill>
                <a:latin typeface="Inter"/>
              </a:rPr>
              <a:t>›  </a:t>
            </a:r>
            <a:r>
              <a:rPr sz="1300" b="1">
                <a:solidFill>
                  <a:srgbClr val="FACC15"/>
                </a:solidFill>
                <a:latin typeface="Inter"/>
              </a:rPr>
              <a:t>Account isolation  </a:t>
            </a:r>
            <a:r>
              <a:rPr sz="1300">
                <a:solidFill>
                  <a:srgbClr val="8B8FA3"/>
                </a:solidFill>
                <a:latin typeface="Inter"/>
              </a:rPr>
              <a:t>Backend (339712745226) and data pipeline (891377204778) are separate AWS accounts — blast radius is bounded.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271016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API · CQRS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One gateway, one Lambda per bounded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API Gateway maps /&lt;context&gt;/command and /&lt;context&gt;/query to the same function — CQRS is a path split, not a compute split.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103120"/>
            <a:ext cx="2286000" cy="749808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6C8CFF"/>
                </a:solidFill>
                <a:latin typeface="Inter"/>
              </a:rPr>
              <a:t>API Gateway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single front door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151823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566160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A78BFA"/>
                </a:solidFill>
                <a:latin typeface="Inter"/>
              </a:rPr>
              <a:t>Hierarchy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90448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FA3"/>
                </a:solidFill>
                <a:latin typeface="Inter"/>
              </a:rPr>
              <a:t>one Lambda · command +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27024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Inter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270248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2E4E9"/>
                </a:solidFill>
                <a:latin typeface="Inter"/>
              </a:rPr>
              <a:t>/hierarchy/command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44568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FA3"/>
                </a:solidFill>
                <a:latin typeface="Inter"/>
              </a:rPr>
              <a:t>writes · validation · Cognito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800600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0600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2E4E9"/>
                </a:solidFill>
                <a:latin typeface="Inter"/>
              </a:rPr>
              <a:t>/hierarchy/query/*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074920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FA3"/>
                </a:solidFill>
                <a:latin typeface="Inter"/>
              </a:rPr>
              <a:t>reads · cacheable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342900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151823"/>
          </a:solidFill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3566160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D3EE"/>
                </a:solidFill>
                <a:latin typeface="Inter"/>
              </a:rPr>
              <a:t>Aggregations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90448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FA3"/>
                </a:solidFill>
                <a:latin typeface="Inter"/>
              </a:rPr>
              <a:t>one Lambda · query-only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27024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4270248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2E4E9"/>
                </a:solidFill>
                <a:latin typeface="Inter"/>
              </a:rPr>
              <a:t>/aggregations/query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4544568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FA3"/>
                </a:solidFill>
                <a:latin typeface="Inter"/>
              </a:rPr>
              <a:t>reads · JSON +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51755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FA3"/>
                </a:solidFill>
                <a:latin typeface="Inter"/>
              </a:rPr>
              <a:t>no command side — add it without a new Lambda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429000"/>
            <a:ext cx="3520440" cy="2057400"/>
          </a:xfrm>
          <a:prstGeom prst="roundRect">
            <a:avLst>
              <a:gd name="adj" fmla="val 5000"/>
            </a:avLst>
          </a:prstGeom>
          <a:solidFill>
            <a:srgbClr val="151823"/>
          </a:solidFill>
          <a:ln w="17780">
            <a:solidFill>
              <a:srgbClr val="8B8F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566160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8B8FA3"/>
                </a:solidFill>
                <a:latin typeface="Inter"/>
              </a:rPr>
              <a:t>… next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904487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8B8FA3"/>
                </a:solidFill>
                <a:latin typeface="Inter"/>
              </a:rPr>
              <a:t>= one more Lambda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7024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  <a:latin typeface="Inter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270248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2E4E9"/>
                </a:solidFill>
                <a:latin typeface="Inter"/>
              </a:rPr>
              <a:t>/&lt;ctx&gt;/command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44568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FA3"/>
                </a:solidFill>
                <a:latin typeface="Inter"/>
              </a:rPr>
              <a:t>writes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800600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800600"/>
            <a:ext cx="251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2E4E9"/>
                </a:solidFill>
                <a:latin typeface="Inter"/>
              </a:rPr>
              <a:t>/&lt;ctx&gt;/query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074920"/>
            <a:ext cx="3154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B8FA3"/>
                </a:solidFill>
                <a:latin typeface="Inter"/>
              </a:rPr>
              <a:t>reads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308860" y="2852928"/>
            <a:ext cx="3223260" cy="576072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80760" y="2852928"/>
            <a:ext cx="13716" cy="576072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29400" y="2852928"/>
            <a:ext cx="3250692" cy="576072"/>
          </a:xfrm>
          <a:prstGeom prst="line">
            <a:avLst/>
          </a:prstGeom>
          <a:ln w="15875">
            <a:solidFill>
              <a:srgbClr val="8B8FA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2E4E9"/>
                </a:solidFill>
                <a:latin typeface="Inter"/>
              </a:rPr>
              <a:t>Command and query are different API Gateway paths into the same Lambda. One Lambda per bounded context — fewer Datadog-instrumented functions, lower observability cost, smaller security surface.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2135124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22D3EE"/>
                </a:solidFill>
                <a:latin typeface="Inter"/>
              </a:rPr>
              <a:t>CONTENT 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One GET, many shapes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The same query endpoint returns JSON or an HTML fragment by parameter — and Avro can be added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69712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8918" y="2240280"/>
            <a:ext cx="3246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Chosen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8190" y="2240280"/>
            <a:ext cx="590153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Consumer &amp; use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90088"/>
            <a:ext cx="11064240" cy="0"/>
          </a:xfrm>
          <a:prstGeom prst="line">
            <a:avLst/>
          </a:prstGeom>
          <a:ln w="15240">
            <a:solidFill>
              <a:srgbClr val="2A2D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035808"/>
            <a:ext cx="169712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C8CFF"/>
                </a:solidFill>
                <a:latin typeface="Inter"/>
              </a:rPr>
              <a:t>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8918" y="3035808"/>
            <a:ext cx="3246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?format=json / Accept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8190" y="3035808"/>
            <a:ext cx="590153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Charts, programmatic clients, partner integrations — structured data.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785615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813048"/>
            <a:ext cx="169712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DD4BF"/>
                </a:solidFill>
                <a:latin typeface="Inter"/>
              </a:rPr>
              <a:t>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8918" y="3813048"/>
            <a:ext cx="3246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?format=html / Accept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8190" y="3813048"/>
            <a:ext cx="590153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HTMX hypermedia UI — server-rendered fragments swapped straight into the page.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562856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590288"/>
            <a:ext cx="169712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A78BFA"/>
                </a:solidFill>
                <a:latin typeface="Inter"/>
              </a:rPr>
              <a:t>Avro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8918" y="4590288"/>
            <a:ext cx="32461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(future) Accept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8190" y="4590288"/>
            <a:ext cx="590153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E2E4E9"/>
                </a:solidFill>
                <a:latin typeface="Inter"/>
              </a:rPr>
              <a:t>High-volume / binary transport — added without changing the route surface.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340096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074920"/>
            <a:ext cx="110642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Hypermedia-first  </a:t>
            </a:r>
            <a:r>
              <a:rPr sz="1250">
                <a:solidFill>
                  <a:srgbClr val="8B8FA3"/>
                </a:solidFill>
                <a:latin typeface="Inter"/>
              </a:rPr>
              <a:t>HTML-over-the-wire keeps rendering on the server; the browser stays thin and the UI stays in lockstep with the model.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Same contract, many encodings  </a:t>
            </a:r>
            <a:r>
              <a:rPr sz="1250">
                <a:solidFill>
                  <a:srgbClr val="8B8FA3"/>
                </a:solidFill>
                <a:latin typeface="Inter"/>
              </a:rPr>
              <a:t>Consumers pick the representation; the endpoint, auth, and query logic are shared.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Forward-compatible  </a:t>
            </a:r>
            <a:r>
              <a:rPr sz="1250">
                <a:solidFill>
                  <a:srgbClr val="8B8FA3"/>
                </a:solidFill>
                <a:latin typeface="Inter"/>
              </a:rPr>
              <a:t>Avro slots in as another representation — no breaking change for existing JSON/HTML callers.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982980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A78BFA"/>
                </a:solidFill>
                <a:latin typeface="Inter"/>
              </a:rPr>
              <a:t>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Rust on Graviton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arm64 Lambdas (provided.al2023) built with cargo-lambda — predictable latency at low cost per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9436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Why Rust + arm64  </a:t>
            </a:r>
            <a:r>
              <a:rPr sz="1300">
                <a:solidFill>
                  <a:srgbClr val="8B8FA3"/>
                </a:solidFill>
                <a:latin typeface="Inter"/>
              </a:rPr>
              <a:t>Low cold start, high throughput per dollar, memory safety, tiny binaries — a strong fit for per-request billing.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One Lambda per bounded context  </a:t>
            </a:r>
            <a:r>
              <a:rPr sz="1300">
                <a:solidFill>
                  <a:srgbClr val="8B8FA3"/>
                </a:solidFill>
                <a:latin typeface="Inter"/>
              </a:rPr>
              <a:t>A single function serves both command and query for its context. Fewer Lambdas means fewer Datadog-instrumented functions — directly lower observability cost — and a smaller security surface.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Synchronous where it matters  </a:t>
            </a:r>
            <a:r>
              <a:rPr sz="1300">
                <a:solidFill>
                  <a:srgbClr val="8B8FA3"/>
                </a:solidFill>
                <a:latin typeface="Inter"/>
              </a:rPr>
              <a:t>The hierarchy service provisions Cognito in-request with rollback — no eventual-consistency gaps.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A78BFA"/>
                </a:solidFill>
                <a:latin typeface="Inter"/>
              </a:rPr>
              <a:t>›  </a:t>
            </a:r>
            <a:r>
              <a:rPr sz="1300" b="1">
                <a:solidFill>
                  <a:srgbClr val="A78BFA"/>
                </a:solidFill>
                <a:latin typeface="Inter"/>
              </a:rPr>
              <a:t>Server-side heavy lifting  </a:t>
            </a:r>
            <a:r>
              <a:rPr sz="1300">
                <a:solidFill>
                  <a:srgbClr val="8B8FA3"/>
                </a:solidFill>
                <a:latin typeface="Inter"/>
              </a:rPr>
              <a:t>Dedup, max-by-recency, and aggregation run in the Lambda, not the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194560"/>
            <a:ext cx="4846320" cy="16916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350" b="1">
                <a:solidFill>
                  <a:srgbClr val="A78BFA"/>
                </a:solidFill>
                <a:latin typeface="Inter"/>
              </a:rPr>
              <a:t>rust-lambda-hierarchy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One Lambda, its own namespace: POST /hierarchy/command + GET /hierarchy/query/* route to the same function. Synchronous Cognito create/delete with rollback.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194560"/>
            <a:ext cx="64008" cy="16916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4069080"/>
            <a:ext cx="4846320" cy="17830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350" b="1">
                <a:solidFill>
                  <a:srgbClr val="22D3EE"/>
                </a:solidFill>
                <a:latin typeface="Inter"/>
              </a:rPr>
              <a:t>measurements-aggregations-api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One Lambda, query-only context: /aggregations/query (JSON from DynamoDB) plus a /measurements HTML fragment (S3 Tables via Athena). A command path can be added to the same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069080"/>
            <a:ext cx="64008" cy="17830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2E4E9"/>
                </a:solidFill>
                <a:latin typeface="Inter"/>
              </a:rPr>
              <a:t>Net: predictable latency, lower cost/request than JVM or Node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982980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4ADE80"/>
                </a:solidFill>
                <a:latin typeface="Inter"/>
              </a:rPr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Two tiers, one decision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Latency need picks the store: hot/small/recent → DynamoDB; massive/historical/analytical → S3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151823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FB923C"/>
                </a:solidFill>
                <a:latin typeface="Inter"/>
              </a:rPr>
              <a:t>DynamoDB  —  hot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937760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923C"/>
                </a:solidFill>
                <a:latin typeface="Inter"/>
              </a:rPr>
              <a:t>›  </a:t>
            </a:r>
            <a:r>
              <a:rPr sz="1250" b="1">
                <a:solidFill>
                  <a:srgbClr val="FB923C"/>
                </a:solidFill>
                <a:latin typeface="Inter"/>
              </a:rPr>
              <a:t>Single-digit-ms reads  </a:t>
            </a:r>
            <a:r>
              <a:rPr sz="1250">
                <a:solidFill>
                  <a:srgbClr val="8B8FA3"/>
                </a:solidFill>
                <a:latin typeface="Inter"/>
              </a:rPr>
              <a:t>Serves the interactive, recent slice of data.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923C"/>
                </a:solidFill>
                <a:latin typeface="Inter"/>
              </a:rPr>
              <a:t>›  </a:t>
            </a:r>
            <a:r>
              <a:rPr sz="1250" b="1">
                <a:solidFill>
                  <a:srgbClr val="FB923C"/>
                </a:solidFill>
                <a:latin typeface="Inter"/>
              </a:rPr>
              <a:t>Tables  </a:t>
            </a:r>
            <a:r>
              <a:rPr sz="1250">
                <a:solidFill>
                  <a:srgbClr val="8B8FA3"/>
                </a:solidFill>
                <a:latin typeface="Inter"/>
              </a:rPr>
              <a:t>hierarchy_new, measurements_aggregate (rollups, TTL), meter-identity.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923C"/>
                </a:solidFill>
                <a:latin typeface="Inter"/>
              </a:rPr>
              <a:t>›  </a:t>
            </a:r>
            <a:r>
              <a:rPr sz="1250" b="1">
                <a:solidFill>
                  <a:srgbClr val="FB923C"/>
                </a:solidFill>
                <a:latin typeface="Inter"/>
              </a:rPr>
              <a:t>On-demand  </a:t>
            </a:r>
            <a:r>
              <a:rPr sz="1250">
                <a:solidFill>
                  <a:srgbClr val="8B8FA3"/>
                </a:solidFill>
                <a:latin typeface="Inter"/>
              </a:rPr>
              <a:t>Scales with traffic; nothing provisioned idle.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FB923C"/>
                </a:solidFill>
                <a:latin typeface="Inter"/>
              </a:rPr>
              <a:t>›  </a:t>
            </a:r>
            <a:r>
              <a:rPr sz="1250" b="1">
                <a:solidFill>
                  <a:srgbClr val="FB923C"/>
                </a:solidFill>
                <a:latin typeface="Inter"/>
              </a:rPr>
              <a:t>Fed by rollups  </a:t>
            </a:r>
            <a:r>
              <a:rPr sz="1250">
                <a:solidFill>
                  <a:srgbClr val="8B8FA3"/>
                </a:solidFill>
                <a:latin typeface="Inter"/>
              </a:rPr>
              <a:t>Glue writes hourly/day materialized views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151823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500" b="1">
                <a:solidFill>
                  <a:srgbClr val="4ADE80"/>
                </a:solidFill>
                <a:latin typeface="Inter"/>
              </a:rPr>
              <a:t>S3 Tables (Iceberg)  —  cold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63240"/>
            <a:ext cx="4937760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4ADE80"/>
                </a:solidFill>
                <a:latin typeface="Inter"/>
              </a:rPr>
              <a:t>›  </a:t>
            </a:r>
            <a:r>
              <a:rPr sz="1250" b="1">
                <a:solidFill>
                  <a:srgbClr val="4ADE80"/>
                </a:solidFill>
                <a:latin typeface="Inter"/>
              </a:rPr>
              <a:t>Unbounded history  </a:t>
            </a:r>
            <a:r>
              <a:rPr sz="1250">
                <a:solidFill>
                  <a:srgbClr val="8B8FA3"/>
                </a:solidFill>
                <a:latin typeface="Inter"/>
              </a:rPr>
              <a:t>Years of readings, append-only, cheap at rest.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4ADE80"/>
                </a:solidFill>
                <a:latin typeface="Inter"/>
              </a:rPr>
              <a:t>›  </a:t>
            </a:r>
            <a:r>
              <a:rPr sz="1250" b="1">
                <a:solidFill>
                  <a:srgbClr val="4ADE80"/>
                </a:solidFill>
                <a:latin typeface="Inter"/>
              </a:rPr>
              <a:t>Tables  </a:t>
            </a:r>
            <a:r>
              <a:rPr sz="1250">
                <a:solidFill>
                  <a:srgbClr val="8B8FA3"/>
                </a:solidFill>
                <a:latin typeface="Inter"/>
              </a:rPr>
              <a:t>raw_data, logical_meter_data.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4ADE80"/>
                </a:solidFill>
                <a:latin typeface="Inter"/>
              </a:rPr>
              <a:t>›  </a:t>
            </a:r>
            <a:r>
              <a:rPr sz="1250" b="1">
                <a:solidFill>
                  <a:srgbClr val="4ADE80"/>
                </a:solidFill>
                <a:latin typeface="Inter"/>
              </a:rPr>
              <a:t>Queried analytically  </a:t>
            </a:r>
            <a:r>
              <a:rPr sz="1250">
                <a:solidFill>
                  <a:srgbClr val="8B8FA3"/>
                </a:solidFill>
                <a:latin typeface="Inter"/>
              </a:rPr>
              <a:t>Athena ⇄ Redshift Spectrum (toggle) for big scans.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50" b="1">
                <a:solidFill>
                  <a:srgbClr val="4ADE80"/>
                </a:solidFill>
                <a:latin typeface="Inter"/>
              </a:rPr>
              <a:t>›  </a:t>
            </a:r>
            <a:r>
              <a:rPr sz="1250" b="1">
                <a:solidFill>
                  <a:srgbClr val="4ADE80"/>
                </a:solidFill>
                <a:latin typeface="Inter"/>
              </a:rPr>
              <a:t>Training substrate  </a:t>
            </a:r>
            <a:r>
              <a:rPr sz="1250">
                <a:solidFill>
                  <a:srgbClr val="8B8FA3"/>
                </a:solidFill>
                <a:latin typeface="Inter"/>
              </a:rPr>
              <a:t>The dataset the inference models learn from.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E2E4E9"/>
                </a:solidFill>
                <a:latin typeface="Inter"/>
              </a:rPr>
              <a:t>The same query Lambda chooses the tier by the latency the response needs — callers don't know or care which store answered.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175004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One write model, two read tiers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An append-only streaming pipeline populates both the hot and cold tiers the API reads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A78BFA"/>
                </a:solidFill>
                <a:latin typeface="Inter"/>
              </a:rPr>
              <a:t>Sources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meters · APIs ·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46888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Kinesis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ingest 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46888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Flink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streaming enrich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46888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DE80"/>
                </a:solidFill>
                <a:latin typeface="Inter"/>
              </a:rPr>
              <a:t>S3 Tables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Iceberg · append-only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01168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B923C"/>
                </a:solidFill>
                <a:latin typeface="Inter"/>
              </a:rPr>
              <a:t>Glue rollup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hourly / late-data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201168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B923C"/>
                </a:solidFill>
                <a:latin typeface="Inter"/>
              </a:rPr>
              <a:t>DynamoDB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materialized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383280"/>
            <a:ext cx="3794760" cy="86868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Context query paths + Inference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read both tiers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2926080"/>
            <a:ext cx="22860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703320" y="2926080"/>
            <a:ext cx="22860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2926080"/>
            <a:ext cx="228600" cy="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35240" y="2441448"/>
            <a:ext cx="548639" cy="210312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12680" y="2441448"/>
            <a:ext cx="228600" cy="0"/>
          </a:xfrm>
          <a:prstGeom prst="line">
            <a:avLst/>
          </a:prstGeom>
          <a:ln w="15875">
            <a:solidFill>
              <a:srgbClr val="FB9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3017520"/>
            <a:ext cx="1143000" cy="36576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607040" y="2880360"/>
            <a:ext cx="502920" cy="502920"/>
          </a:xfrm>
          <a:prstGeom prst="line">
            <a:avLst/>
          </a:prstGeom>
          <a:ln w="15875">
            <a:solidFill>
              <a:srgbClr val="FB9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2E4E9"/>
                </a:solidFill>
                <a:latin typeface="Inter"/>
              </a:rPr>
              <a:t>Correctness by 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6C8CFF"/>
                </a:solidFill>
                <a:latin typeface="Inter"/>
              </a:rPr>
              <a:t>›  </a:t>
            </a:r>
            <a:r>
              <a:rPr sz="1200" b="1">
                <a:solidFill>
                  <a:srgbClr val="6C8CFF"/>
                </a:solidFill>
                <a:latin typeface="Inter"/>
              </a:rPr>
              <a:t>Append-only  </a:t>
            </a:r>
            <a:r>
              <a:rPr sz="1200">
                <a:solidFill>
                  <a:srgbClr val="8B8FA3"/>
                </a:solidFill>
                <a:latin typeface="Inter"/>
              </a:rPr>
              <a:t>Corrections are new events with a later timestamp; consumers read max-by-recency. No destructive updates.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6C8CFF"/>
                </a:solidFill>
                <a:latin typeface="Inter"/>
              </a:rPr>
              <a:t>›  </a:t>
            </a:r>
            <a:r>
              <a:rPr sz="1200" b="1">
                <a:solidFill>
                  <a:srgbClr val="6C8CFF"/>
                </a:solidFill>
                <a:latin typeface="Inter"/>
              </a:rPr>
              <a:t>Streaming-first  </a:t>
            </a:r>
            <a:r>
              <a:rPr sz="1200">
                <a:solidFill>
                  <a:srgbClr val="8B8FA3"/>
                </a:solidFill>
                <a:latin typeface="Inter"/>
              </a:rPr>
              <a:t>Flink handles real time; Glue recomputes only late arrivals (&gt;6h) and backfills.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200" b="1">
                <a:solidFill>
                  <a:srgbClr val="6C8CFF"/>
                </a:solidFill>
                <a:latin typeface="Inter"/>
              </a:rPr>
              <a:t>›  </a:t>
            </a:r>
            <a:r>
              <a:rPr sz="1200" b="1">
                <a:solidFill>
                  <a:srgbClr val="6C8CFF"/>
                </a:solidFill>
                <a:latin typeface="Inter"/>
              </a:rPr>
              <a:t>One source of truth  </a:t>
            </a:r>
            <a:r>
              <a:rPr sz="1200">
                <a:solidFill>
                  <a:srgbClr val="8B8FA3"/>
                </a:solidFill>
                <a:latin typeface="Inter"/>
              </a:rPr>
              <a:t>Both read tiers derive from the same write model — the hot view is just a rollup of the cold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22D3EE"/>
                </a:solidFill>
                <a:latin typeface="Inter"/>
              </a:rPr>
              <a:t>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Models trained on your own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The cold tier isn't just storage — it's the training substrate. Predictions flow back through the same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4ADE80"/>
                </a:solidFill>
                <a:latin typeface="Inter"/>
              </a:rPr>
              <a:t>S3 Tables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raw_data · logical_meter_data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331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A78BFA"/>
                </a:solidFill>
                <a:latin typeface="Inter"/>
              </a:rPr>
              <a:t>Training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batch · Athena/Spark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3317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2D3EE"/>
                </a:solidFill>
                <a:latin typeface="Inter"/>
              </a:rPr>
              <a:t>Model / endpoint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inference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1828800" cy="73152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B923C"/>
                </a:solidFill>
                <a:latin typeface="Inter"/>
              </a:rPr>
              <a:t>DynamoDB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cached predictions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88920"/>
            <a:ext cx="1828800" cy="73152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6C8CFF"/>
                </a:solidFill>
                <a:latin typeface="Inter"/>
              </a:rPr>
              <a:t>Scoped API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same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233172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A1D2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2DD4BF"/>
                </a:solidFill>
                <a:latin typeface="Inter"/>
              </a:rPr>
              <a:t>Frontend</a:t>
            </a:r>
          </a:p>
          <a:p>
            <a:pPr algn="ctr"/>
            <a:r>
              <a:rPr sz="850">
                <a:solidFill>
                  <a:srgbClr val="8B8FA3"/>
                </a:solidFill>
                <a:latin typeface="Inter"/>
              </a:rPr>
              <a:t>charts · HTML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2788920"/>
            <a:ext cx="411480" cy="0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66360" y="2788920"/>
            <a:ext cx="411480" cy="0"/>
          </a:xfrm>
          <a:prstGeom prst="line">
            <a:avLst/>
          </a:prstGeom>
          <a:ln w="15875">
            <a:solidFill>
              <a:srgbClr val="A78BF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80960" y="2331720"/>
            <a:ext cx="411480" cy="27432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2880360"/>
            <a:ext cx="411480" cy="27432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21240" y="2331720"/>
            <a:ext cx="228600" cy="365760"/>
          </a:xfrm>
          <a:prstGeom prst="line">
            <a:avLst/>
          </a:prstGeom>
          <a:ln w="15875">
            <a:solidFill>
              <a:srgbClr val="FB9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921240" y="2880360"/>
            <a:ext cx="228600" cy="27432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703320"/>
            <a:ext cx="11064240" cy="297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Trained on history  </a:t>
            </a:r>
            <a:r>
              <a:rPr sz="1250">
                <a:solidFill>
                  <a:srgbClr val="8B8FA3"/>
                </a:solidFill>
                <a:latin typeface="Inter"/>
              </a:rPr>
              <a:t>Years of metered readings in S3 Tables feed forecasting, anomaly &amp; leak detection, load disaggregation, and peer benchmarking.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Served through the same door  </a:t>
            </a:r>
            <a:r>
              <a:rPr sz="1250">
                <a:solidFill>
                  <a:srgbClr val="8B8FA3"/>
                </a:solidFill>
                <a:latin typeface="Inter"/>
              </a:rPr>
              <a:t>Inference sits behind the same Cognito-scoped API Gateway — one auth model, one contract.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Hot when it must be  </a:t>
            </a:r>
            <a:r>
              <a:rPr sz="1250">
                <a:solidFill>
                  <a:srgbClr val="8B8FA3"/>
                </a:solidFill>
                <a:latin typeface="Inter"/>
              </a:rPr>
              <a:t>Frequent predictions are cached into DynamoDB so the UI reads them at single-digit-ms latency.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Consumed like any query  </a:t>
            </a:r>
            <a:r>
              <a:rPr sz="1250">
                <a:solidFill>
                  <a:srgbClr val="8B8FA3"/>
                </a:solidFill>
                <a:latin typeface="Inter"/>
              </a:rPr>
              <a:t>The frontend renders predictions as JSON charts or HTML fragments — no special client path.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2D3EE"/>
                </a:solidFill>
                <a:latin typeface="Inter"/>
              </a:rPr>
              <a:t>›  </a:t>
            </a:r>
            <a:r>
              <a:rPr sz="1250" b="1">
                <a:solidFill>
                  <a:srgbClr val="22D3EE"/>
                </a:solidFill>
                <a:latin typeface="Inter"/>
              </a:rPr>
              <a:t>Closes the loop  </a:t>
            </a:r>
            <a:r>
              <a:rPr sz="1250">
                <a:solidFill>
                  <a:srgbClr val="8B8FA3"/>
                </a:solidFill>
                <a:latin typeface="Inter"/>
              </a:rPr>
              <a:t>cold data → models → hot predictions → UI — the platform's data compounds into a product advantage.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175004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One request,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From click to rendered fragment — the path every interactive read 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D4B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03704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Inter"/>
              </a:rPr>
              <a:t>Browser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203704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User action triggers an HTMX/JSON fetch to a relative path.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" y="2715768"/>
            <a:ext cx="0" cy="182880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0080" y="2898648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DD4B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62072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DD4BF"/>
                </a:solidFill>
                <a:latin typeface="Inter"/>
              </a:rPr>
              <a:t>CloudFront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62072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Serves from edge cache, or proxies the dynamic call onward.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3374136"/>
            <a:ext cx="0" cy="182879"/>
          </a:xfrm>
          <a:prstGeom prst="line">
            <a:avLst/>
          </a:prstGeom>
          <a:ln w="15875">
            <a:solidFill>
              <a:srgbClr val="2DD4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0080" y="3557015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ACC15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20439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ACC15"/>
                </a:solidFill>
                <a:latin typeface="Inter"/>
              </a:rPr>
              <a:t>Cognito @ 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20439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Authorizer validates the token and resolves tenant scope.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" y="4032504"/>
            <a:ext cx="0" cy="182879"/>
          </a:xfrm>
          <a:prstGeom prst="line">
            <a:avLst/>
          </a:prstGeom>
          <a:ln w="15875">
            <a:solidFill>
              <a:srgbClr val="FACC1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0080" y="4215383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6C8CFF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78807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6C8CFF"/>
                </a:solidFill>
                <a:latin typeface="Inter"/>
              </a:rPr>
              <a:t>Route → context Lambda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78807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Gateway routes by path (e.g. /hierarchy/query) to that context's one Lambda.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4690871"/>
            <a:ext cx="0" cy="182880"/>
          </a:xfrm>
          <a:prstGeom prst="line">
            <a:avLst/>
          </a:prstGeom>
          <a:ln w="15875">
            <a:solidFill>
              <a:srgbClr val="6C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4873751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DE80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837175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ADE80"/>
                </a:solidFill>
                <a:latin typeface="Inter"/>
              </a:rPr>
              <a:t>Tier select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837175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Hot → DynamoDB · cold → S3 Tables via Athena · predicted → inference.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" y="5349240"/>
            <a:ext cx="0" cy="182879"/>
          </a:xfrm>
          <a:prstGeom prst="line">
            <a:avLst/>
          </a:prstGeom>
          <a:ln w="15875">
            <a:solidFill>
              <a:srgbClr val="4AD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40080" y="5532119"/>
            <a:ext cx="475488" cy="475488"/>
          </a:xfrm>
          <a:prstGeom prst="ellipse">
            <a:avLst/>
          </a:prstGeom>
          <a:solidFill>
            <a:srgbClr val="1A1D2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A78BFA"/>
                </a:solidFill>
                <a:latin typeface="Inter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495543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A78BFA"/>
                </a:solidFill>
                <a:latin typeface="Inter"/>
              </a:rPr>
              <a:t>Render &amp; 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495543"/>
            <a:ext cx="7315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8B8FA3"/>
                </a:solidFill>
                <a:latin typeface="Inter"/>
              </a:rPr>
              <a:t>Lambda emits JSON or an HTML fragment per the format parameter.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790956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4ADE80"/>
                </a:solidFill>
                <a:latin typeface="Inter"/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Why this shape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Every layer was chosen for cost, scale, security, or optionality — and they compound.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4ADE80"/>
                </a:solidFill>
                <a:latin typeface="Inter"/>
              </a:rPr>
              <a:t>Cost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Pay-per-use end to end. Scale-to-zero compute, on-demand storage, edge cache — no idle fleet.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61688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6C8CFF"/>
                </a:solidFill>
                <a:latin typeface="Inter"/>
              </a:rPr>
              <a:t>Scale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Edge caching + serverless concurrency absorb spikes; S3 Tables holds unbounded history cheaply.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194560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74736" y="2194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FACC15"/>
                </a:solidFill>
                <a:latin typeface="Inter"/>
              </a:rPr>
              <a:t>Security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Cognito-scoped at the edge; multi-account isolation bounds blast radius.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2194560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968496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A78BFA"/>
                </a:solidFill>
                <a:latin typeface="Inter"/>
              </a:rPr>
              <a:t>Ecosystem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Partner micro-frontends + scoped API let others build without forking the 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68496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1688" y="3968496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2DD4BF"/>
                </a:solidFill>
                <a:latin typeface="Inter"/>
              </a:rPr>
              <a:t>Evolvability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Add Avro, add a model, add a partner module — no re-platforming, no broken contracts.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3968496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3968496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12700">
            <a:solidFill>
              <a:srgbClr val="2A2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28016" tIns="118872" bIns="91440"/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Intelligence</a:t>
            </a:r>
          </a:p>
          <a:p>
            <a:pPr>
              <a:lnSpc>
                <a:spcPct val="108000"/>
              </a:lnSpc>
              <a:spcBef>
                <a:spcPts val="500"/>
              </a:spcBef>
            </a:pPr>
            <a:r>
              <a:rPr sz="1150">
                <a:solidFill>
                  <a:srgbClr val="8B8FA3"/>
                </a:solidFill>
                <a:latin typeface="Inter"/>
              </a:rPr>
              <a:t>Models trained on proprietary metered history turn data exhaust into product advantage.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3968496"/>
            <a:ext cx="64008" cy="15544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2E4E9"/>
                </a:solidFill>
                <a:latin typeface="Inter"/>
              </a:rPr>
              <a:t>Thin layers, clean seams: each can change on its own clock.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1078992" cy="283464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 w="12700">
            <a:solidFill>
              <a:srgbClr val="6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6C8CFF"/>
                </a:solidFill>
                <a:latin typeface="Inter"/>
              </a:rPr>
              <a:t>MATURITY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E2E4E9"/>
                </a:solidFill>
                <a:latin typeface="Inter"/>
              </a:rPr>
              <a:t>Live today vs. optional /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89888"/>
            <a:ext cx="566928" cy="4114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8B8FA3"/>
                </a:solidFill>
                <a:latin typeface="Inter"/>
              </a:rPr>
              <a:t>An honest map — the spine exists now; intelligence and partner extension are deliberate next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37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8FA3"/>
                </a:solidFill>
                <a:latin typeface="Inter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A5E70"/>
                </a:solidFill>
                <a:latin typeface="Inter"/>
              </a:rPr>
              <a:t>Enity EMS — Product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7183" y="2194560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8747" y="2194560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B8FA3"/>
                </a:solidFill>
                <a:latin typeface="Inter"/>
              </a:rPr>
              <a:t>Notes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606040"/>
            <a:ext cx="11064240" cy="0"/>
          </a:xfrm>
          <a:prstGeom prst="line">
            <a:avLst/>
          </a:prstGeom>
          <a:ln w="15240">
            <a:solidFill>
              <a:srgbClr val="2A2D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51760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Slim static frontend (S3 / CloudFront)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3" y="2651760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8747" y="2651760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Astro + HTMX, content-only deploys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063240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090672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Cognito-scoped API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3" y="3090672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8747" y="3090672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Authorizer + per-tenant scopes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502152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529584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CQRS Rust / Graviton Lambdas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3529584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747" y="3529584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One Lambda per context; /command + /query paths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941063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3968496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JSON + HTML by parameter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3968496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747" y="3968496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Hypermedia + structured clients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4379976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4407408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DynamoDB + S3 Tables tiering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3" y="4407408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8747" y="4407408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Hot rollups + cold Iceberg history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818888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846320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Streaming pipeline → Iceberg → rollups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3" y="4846320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  <a:latin typeface="Inter"/>
              </a:rPr>
              <a:t>●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8747" y="4846320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Flink + Glue, append-only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5257800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5285232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Avro responses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3" y="5285232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B923C"/>
                </a:solidFill>
                <a:latin typeface="Inter"/>
              </a:rPr>
              <a:t>● 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8747" y="5285232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Added as another representation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696712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724144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Partner micro-frontends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87183" y="5724144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ACC15"/>
                </a:solidFill>
                <a:latin typeface="Inter"/>
              </a:rPr>
              <a:t>● Optional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8747" y="5724144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Host shell, opt-in federation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6135624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6163056"/>
            <a:ext cx="656539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2E4E9"/>
                </a:solidFill>
                <a:latin typeface="Inter"/>
              </a:rPr>
              <a:t>Inference services on S3 Tables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87183" y="6163056"/>
            <a:ext cx="19184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2D3EE"/>
                </a:solidFill>
                <a:latin typeface="Inter"/>
              </a:rPr>
              <a:t>● 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8747" y="6163056"/>
            <a:ext cx="23609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B8FA3"/>
                </a:solidFill>
                <a:latin typeface="Inter"/>
              </a:rPr>
              <a:t>Train cold → serve hot via API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574536"/>
            <a:ext cx="11064240" cy="0"/>
          </a:xfrm>
          <a:prstGeom prst="line">
            <a:avLst/>
          </a:prstGeom>
          <a:ln w="9525">
            <a:solidFill>
              <a:srgbClr val="2022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C8CFF"/>
                </a:solidFill>
                <a:latin typeface="Inter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900" b="1" i="0">
                <a:solidFill>
                  <a:srgbClr val="E2E4E9"/>
                </a:solidFill>
                <a:latin typeface="Inter"/>
              </a:rPr>
              <a:t>A slim static edge, a scoped serverless API, and intelligence</a:t>
            </a:r>
          </a:p>
          <a:p>
            <a:pPr algn="ctr">
              <a:lnSpc>
                <a:spcPct val="118000"/>
              </a:lnSpc>
            </a:pPr>
            <a:r>
              <a:rPr sz="2900" b="1" i="0">
                <a:solidFill>
                  <a:srgbClr val="E2E4E9"/>
                </a:solidFill>
                <a:latin typeface="Inter"/>
              </a:rPr>
              <a:t>trained on our own data —</a:t>
            </a:r>
          </a:p>
          <a:p>
            <a:pPr algn="ctr">
              <a:lnSpc>
                <a:spcPct val="118000"/>
              </a:lnSpc>
            </a:pPr>
            <a:r>
              <a:rPr sz="2900" b="1" i="0">
                <a:solidFill>
                  <a:srgbClr val="E2E4E9"/>
                </a:solidFill>
                <a:latin typeface="Inter"/>
              </a:rPr>
              <a:t>extensible by partners, billed by the request.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80560" y="4800600"/>
            <a:ext cx="3227832" cy="0"/>
          </a:xfrm>
          <a:prstGeom prst="line">
            <a:avLst/>
          </a:prstGeom>
          <a:ln w="12700">
            <a:solidFill>
              <a:srgbClr val="2A2D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8B8FA3"/>
                </a:solidFill>
                <a:latin typeface="Inter"/>
              </a:rPr>
              <a:t>Frontend  →  API  →  Intelligence  → 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